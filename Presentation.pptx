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560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CE6F0"/>
                </a:solidFill>
                <a:latin typeface="Aptos"/>
              </a:defRPr>
            </a:pPr>
            <a:r>
              <a:t>Bluestock Fintech •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886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8D2DC"/>
                </a:solidFill>
                <a:latin typeface="Aptos"/>
              </a:defRPr>
            </a:pPr>
            <a:r>
              <a:t>Cleaning the data, measuring fund performance, and understanding investor behaviour.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26A72"/>
                </a:solidFill>
                <a:latin typeface="Aptos"/>
              </a:defRPr>
            </a:pPr>
            <a:r>
              <a:t>Mutual Fund Analytics Capstone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64008" cy="512064"/>
          </a:xfrm>
          <a:prstGeom prst="rect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354B"/>
                </a:solidFill>
                <a:latin typeface="Aptos Display"/>
              </a:defRPr>
            </a:pPr>
            <a:r>
              <a:t>Problem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A72"/>
                </a:solidFill>
                <a:latin typeface="Aptos"/>
              </a:defRPr>
            </a:pPr>
            <a:r>
              <a:t>What we wanted the analysis to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A2F35"/>
                </a:solidFill>
                <a:latin typeface="Aptos"/>
              </a:defRPr>
            </a:pPr>
            <a:r>
              <a:t>• Can the raw mutual-fund files be turned into a consistent analysis dataset?</a:t>
            </a:r>
          </a:p>
          <a:p>
            <a:pPr>
              <a:spcAft>
                <a:spcPts val="1000"/>
              </a:spcAft>
              <a:defRPr sz="1700">
                <a:solidFill>
                  <a:srgbClr val="2A2F35"/>
                </a:solidFill>
                <a:latin typeface="Aptos"/>
              </a:defRPr>
            </a:pPr>
            <a:r>
              <a:t>• How do funds compare on return and risk-adjusted performance?</a:t>
            </a:r>
          </a:p>
          <a:p>
            <a:pPr>
              <a:spcAft>
                <a:spcPts val="1000"/>
              </a:spcAft>
              <a:defRPr sz="1700">
                <a:solidFill>
                  <a:srgbClr val="2A2F35"/>
                </a:solidFill>
                <a:latin typeface="Aptos"/>
              </a:defRPr>
            </a:pPr>
            <a:r>
              <a:t>• What does the investor transaction data say about SIP behaviour?</a:t>
            </a:r>
          </a:p>
          <a:p>
            <a:pPr>
              <a:spcAft>
                <a:spcPts val="1000"/>
              </a:spcAft>
              <a:defRPr sz="1700">
                <a:solidFill>
                  <a:srgbClr val="2A2F35"/>
                </a:solidFill>
                <a:latin typeface="Aptos"/>
              </a:defRPr>
            </a:pPr>
            <a:r>
              <a:t>• Where are concentration and risk visible in the portfolio data?</a:t>
            </a:r>
          </a:p>
          <a:p>
            <a:pPr>
              <a:spcAft>
                <a:spcPts val="1000"/>
              </a:spcAft>
              <a:defRPr sz="1700">
                <a:solidFill>
                  <a:srgbClr val="2A2F35"/>
                </a:solidFill>
                <a:latin typeface="Aptos"/>
              </a:defRPr>
            </a:pPr>
            <a:r>
              <a:t>• Can the results be presented clearly in a Power BI dashboard?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26A72"/>
                </a:solidFill>
                <a:latin typeface="Aptos"/>
              </a:defRPr>
            </a:pPr>
            <a:r>
              <a:t>Mutual Fund Analytics Capstone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64008" cy="512064"/>
          </a:xfrm>
          <a:prstGeom prst="rect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354B"/>
                </a:solidFill>
                <a:latin typeface="Aptos Display"/>
              </a:defRPr>
            </a:pPr>
            <a: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A72"/>
                </a:solidFill>
                <a:latin typeface="Aptos"/>
              </a:defRPr>
            </a:pPr>
            <a:r>
              <a:t>Main files used in the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160020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50" b="1">
                <a:solidFill>
                  <a:srgbClr val="626A72"/>
                </a:solidFill>
                <a:latin typeface="Aptos"/>
              </a:defRPr>
            </a:pPr>
            <a:r>
              <a:t>Fund master</a:t>
            </a:r>
          </a:p>
          <a:p>
            <a:pPr>
              <a:defRPr sz="2300" b="1">
                <a:solidFill>
                  <a:srgbClr val="20354B"/>
                </a:solidFill>
                <a:latin typeface="Aptos Display"/>
              </a:defRPr>
            </a:pPr>
            <a:r>
              <a:t>01_fund_master.csv</a:t>
            </a:r>
          </a:p>
          <a:p>
            <a:pPr>
              <a:defRPr sz="1000">
                <a:solidFill>
                  <a:srgbClr val="2A2F35"/>
                </a:solidFill>
                <a:latin typeface="Aptos"/>
              </a:defRPr>
            </a:pPr>
            <a:r>
              <a:t>Scheme, category, benchmark, expense ratio and risk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417320"/>
            <a:ext cx="5212080" cy="160020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50" b="1">
                <a:solidFill>
                  <a:srgbClr val="626A72"/>
                </a:solidFill>
                <a:latin typeface="Aptos"/>
              </a:defRPr>
            </a:pPr>
            <a:r>
              <a:t>NAV history</a:t>
            </a:r>
          </a:p>
          <a:p>
            <a:pPr>
              <a:defRPr sz="2300" b="1">
                <a:solidFill>
                  <a:srgbClr val="20354B"/>
                </a:solidFill>
                <a:latin typeface="Aptos Display"/>
              </a:defRPr>
            </a:pPr>
            <a:r>
              <a:t>02_nav_history.csv</a:t>
            </a:r>
          </a:p>
          <a:p>
            <a:pPr>
              <a:defRPr sz="1000">
                <a:solidFill>
                  <a:srgbClr val="2A2F35"/>
                </a:solidFill>
                <a:latin typeface="Aptos"/>
              </a:defRPr>
            </a:pPr>
            <a:r>
              <a:t>Historical NAV used for returns and risk calculations.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212080" cy="160020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50" b="1">
                <a:solidFill>
                  <a:srgbClr val="626A72"/>
                </a:solidFill>
                <a:latin typeface="Aptos"/>
              </a:defRPr>
            </a:pPr>
            <a:r>
              <a:t>Scheme performance</a:t>
            </a:r>
          </a:p>
          <a:p>
            <a:pPr>
              <a:defRPr sz="2300" b="1">
                <a:solidFill>
                  <a:srgbClr val="20354B"/>
                </a:solidFill>
                <a:latin typeface="Aptos Display"/>
              </a:defRPr>
            </a:pPr>
            <a:r>
              <a:t>07_scheme_performance.csv</a:t>
            </a:r>
          </a:p>
          <a:p>
            <a:pPr>
              <a:defRPr sz="1000">
                <a:solidFill>
                  <a:srgbClr val="2A2F35"/>
                </a:solidFill>
                <a:latin typeface="Aptos"/>
              </a:defRPr>
            </a:pPr>
            <a:r>
              <a:t>Performance and scheme-level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383280"/>
            <a:ext cx="5212080" cy="160020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50" b="1">
                <a:solidFill>
                  <a:srgbClr val="626A72"/>
                </a:solidFill>
                <a:latin typeface="Aptos"/>
              </a:defRPr>
            </a:pPr>
            <a:r>
              <a:t>Investor transactions</a:t>
            </a:r>
          </a:p>
          <a:p>
            <a:pPr>
              <a:defRPr sz="2300" b="1">
                <a:solidFill>
                  <a:srgbClr val="20354B"/>
                </a:solidFill>
                <a:latin typeface="Aptos Display"/>
              </a:defRPr>
            </a:pPr>
            <a:r>
              <a:t>08_investor_transactions.csv</a:t>
            </a:r>
          </a:p>
          <a:p>
            <a:pPr>
              <a:defRPr sz="1000">
                <a:solidFill>
                  <a:srgbClr val="2A2F35"/>
                </a:solidFill>
                <a:latin typeface="Aptos"/>
              </a:defRPr>
            </a:pPr>
            <a:r>
              <a:t>SIP, redemption and lumpsum activity.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26A72"/>
                </a:solidFill>
                <a:latin typeface="Aptos"/>
              </a:defRPr>
            </a:pPr>
            <a:r>
              <a:t>The processed layer contains cleaned NAV history, scheme performance and investor transactions.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26A72"/>
                </a:solidFill>
                <a:latin typeface="Aptos"/>
              </a:defRPr>
            </a:pPr>
            <a:r>
              <a:t>Mutual Fund Analytics Capstone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64008" cy="512064"/>
          </a:xfrm>
          <a:prstGeom prst="rect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354B"/>
                </a:solidFill>
                <a:latin typeface="Aptos Display"/>
              </a:defRPr>
            </a:pPr>
            <a:r>
              <a:t>Analysis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A72"/>
                </a:solidFill>
                <a:latin typeface="Aptos"/>
              </a:defRPr>
            </a:pPr>
            <a:r>
              <a:t>The project was built as a sequence rather than one large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572768" cy="150876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F689F"/>
                </a:solidFill>
              </a:defRPr>
            </a:pPr>
            <a:r>
              <a:t>1</a:t>
            </a:r>
          </a:p>
          <a:p>
            <a:pPr algn="ctr">
              <a:defRPr sz="1200" b="1">
                <a:solidFill>
                  <a:srgbClr val="20354B"/>
                </a:solidFill>
              </a:defRPr>
            </a:pPr>
            <a:r>
              <a:t>Raw files</a:t>
            </a:r>
          </a:p>
        </p:txBody>
      </p:sp>
      <p:sp>
        <p:nvSpPr>
          <p:cNvPr id="7" name="Chevron 6"/>
          <p:cNvSpPr/>
          <p:nvPr/>
        </p:nvSpPr>
        <p:spPr>
          <a:xfrm>
            <a:off x="2203704" y="2651760"/>
            <a:ext cx="228600" cy="411480"/>
          </a:xfrm>
          <a:prstGeom prst="chevron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96312" y="2148840"/>
            <a:ext cx="1572768" cy="150876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F689F"/>
                </a:solidFill>
              </a:defRPr>
            </a:pPr>
            <a:r>
              <a:t>2</a:t>
            </a:r>
          </a:p>
          <a:p>
            <a:pPr algn="ctr">
              <a:defRPr sz="1200" b="1">
                <a:solidFill>
                  <a:srgbClr val="20354B"/>
                </a:solidFill>
              </a:defRPr>
            </a:pPr>
            <a:r>
              <a:t>Clean &amp; validate</a:t>
            </a:r>
          </a:p>
        </p:txBody>
      </p:sp>
      <p:sp>
        <p:nvSpPr>
          <p:cNvPr id="9" name="Chevron 8"/>
          <p:cNvSpPr/>
          <p:nvPr/>
        </p:nvSpPr>
        <p:spPr>
          <a:xfrm>
            <a:off x="4105656" y="2651760"/>
            <a:ext cx="228600" cy="411480"/>
          </a:xfrm>
          <a:prstGeom prst="chevron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98264" y="2148840"/>
            <a:ext cx="1572768" cy="150876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F689F"/>
                </a:solidFill>
              </a:defRPr>
            </a:pPr>
            <a:r>
              <a:t>3</a:t>
            </a:r>
          </a:p>
          <a:p>
            <a:pPr algn="ctr">
              <a:defRPr sz="1200" b="1">
                <a:solidFill>
                  <a:srgbClr val="20354B"/>
                </a:solidFill>
              </a:defRPr>
            </a:pPr>
            <a:r>
              <a:t>EDA</a:t>
            </a:r>
          </a:p>
        </p:txBody>
      </p:sp>
      <p:sp>
        <p:nvSpPr>
          <p:cNvPr id="11" name="Chevron 10"/>
          <p:cNvSpPr/>
          <p:nvPr/>
        </p:nvSpPr>
        <p:spPr>
          <a:xfrm>
            <a:off x="6007608" y="2651760"/>
            <a:ext cx="228600" cy="411480"/>
          </a:xfrm>
          <a:prstGeom prst="chevron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0216" y="2148840"/>
            <a:ext cx="1572768" cy="150876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F689F"/>
                </a:solidFill>
              </a:defRPr>
            </a:pPr>
            <a:r>
              <a:t>4</a:t>
            </a:r>
          </a:p>
          <a:p>
            <a:pPr algn="ctr">
              <a:defRPr sz="1200" b="1">
                <a:solidFill>
                  <a:srgbClr val="20354B"/>
                </a:solidFill>
              </a:defRPr>
            </a:pPr>
            <a:r>
              <a:t>Performance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7909560" y="2651760"/>
            <a:ext cx="228600" cy="411480"/>
          </a:xfrm>
          <a:prstGeom prst="chevron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02168" y="2148840"/>
            <a:ext cx="1572768" cy="150876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F689F"/>
                </a:solidFill>
              </a:defRPr>
            </a:pPr>
            <a:r>
              <a:t>5</a:t>
            </a:r>
          </a:p>
          <a:p>
            <a:pPr algn="ctr">
              <a:defRPr sz="1200" b="1">
                <a:solidFill>
                  <a:srgbClr val="20354B"/>
                </a:solidFill>
              </a:defRPr>
            </a:pPr>
            <a:r>
              <a:t>Advanced analytics</a:t>
            </a:r>
          </a:p>
        </p:txBody>
      </p:sp>
      <p:sp>
        <p:nvSpPr>
          <p:cNvPr id="15" name="Chevron 14"/>
          <p:cNvSpPr/>
          <p:nvPr/>
        </p:nvSpPr>
        <p:spPr>
          <a:xfrm>
            <a:off x="9811512" y="2651760"/>
            <a:ext cx="228600" cy="411480"/>
          </a:xfrm>
          <a:prstGeom prst="chevron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04120" y="2148840"/>
            <a:ext cx="1572768" cy="150876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F689F"/>
                </a:solidFill>
              </a:defRPr>
            </a:pPr>
            <a:r>
              <a:t>6</a:t>
            </a:r>
          </a:p>
          <a:p>
            <a:pPr algn="ctr">
              <a:defRPr sz="1200" b="1">
                <a:solidFill>
                  <a:srgbClr val="20354B"/>
                </a:solidFill>
              </a:defRPr>
            </a:pPr>
            <a:r>
              <a:t>Power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A2F35"/>
                </a:solidFill>
                <a:latin typeface="Aptos"/>
              </a:defRPr>
            </a:pPr>
            <a:r>
              <a:t>• Outputs include cleaned CSVs, charts, performance reports, advanced analytics and the dashboard.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26A72"/>
                </a:solidFill>
                <a:latin typeface="Aptos"/>
              </a:defRPr>
            </a:pPr>
            <a:r>
              <a:t>Mutual Fund Analytics Capstone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64008" cy="512064"/>
          </a:xfrm>
          <a:prstGeom prst="rect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354B"/>
                </a:solidFill>
                <a:latin typeface="Aptos Display"/>
              </a:defRPr>
            </a:pPr>
            <a:r>
              <a:t>EDA — SIP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A72"/>
                </a:solidFill>
                <a:latin typeface="Aptos"/>
              </a:defRPr>
            </a:pPr>
            <a:r>
              <a:t>SIP inflow shows a clear upward trend in the source series.</a:t>
            </a:r>
          </a:p>
        </p:txBody>
      </p:sp>
      <p:pic>
        <p:nvPicPr>
          <p:cNvPr id="6" name="Picture 5" descr="sip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858000" cy="38867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417320"/>
            <a:ext cx="347472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50" b="1">
                <a:solidFill>
                  <a:srgbClr val="626A72"/>
                </a:solidFill>
                <a:latin typeface="Aptos"/>
              </a:defRPr>
            </a:pPr>
            <a:r>
              <a:t>SIP transactions</a:t>
            </a:r>
          </a:p>
          <a:p>
            <a:pPr>
              <a:defRPr sz="2300" b="1">
                <a:solidFill>
                  <a:srgbClr val="20354B"/>
                </a:solidFill>
                <a:latin typeface="Aptos Display"/>
              </a:defRPr>
            </a:pPr>
            <a:r>
              <a:t>19,716</a:t>
            </a:r>
          </a:p>
          <a:p>
            <a:pPr>
              <a:defRPr sz="1000">
                <a:solidFill>
                  <a:srgbClr val="2A2F35"/>
                </a:solidFill>
                <a:latin typeface="Aptos"/>
              </a:defRPr>
            </a:pPr>
            <a:r>
              <a:t>Transactions classified as SIP.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063240"/>
            <a:ext cx="347472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50" b="1">
                <a:solidFill>
                  <a:srgbClr val="626A72"/>
                </a:solidFill>
                <a:latin typeface="Aptos"/>
              </a:defRPr>
            </a:pPr>
            <a:r>
              <a:t>Investors with 6+ SIPs</a:t>
            </a:r>
          </a:p>
          <a:p>
            <a:pPr>
              <a:defRPr sz="2300" b="1">
                <a:solidFill>
                  <a:srgbClr val="20354B"/>
                </a:solidFill>
                <a:latin typeface="Aptos Display"/>
              </a:defRPr>
            </a:pPr>
            <a:r>
              <a:t>1,362</a:t>
            </a:r>
          </a:p>
          <a:p>
            <a:pPr>
              <a:defRPr sz="1000">
                <a:solidFill>
                  <a:srgbClr val="2A2F35"/>
                </a:solidFill>
                <a:latin typeface="Aptos"/>
              </a:defRPr>
            </a:pPr>
            <a:r>
              <a:t>Threshold used for the continuity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475488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A2F35"/>
                </a:solidFill>
                <a:latin typeface="Aptos"/>
              </a:defRPr>
            </a:pPr>
            <a:r>
              <a:t>• Monthly SIP inflow rises to ₹31,002 Cr at the end of the displayed series.</a:t>
            </a:r>
          </a:p>
          <a:p>
            <a:pPr>
              <a:spcAft>
                <a:spcPts val="400"/>
              </a:spcAft>
              <a:defRPr sz="1150">
                <a:solidFill>
                  <a:srgbClr val="2A2F35"/>
                </a:solidFill>
                <a:latin typeface="Aptos"/>
              </a:defRPr>
            </a:pPr>
            <a:r>
              <a:t>• There is a small dip around early 2025, followed by renewed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26A72"/>
                </a:solidFill>
                <a:latin typeface="Aptos"/>
              </a:defRPr>
            </a:pPr>
            <a:r>
              <a:t>Mutual Fund Analytics Capstone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64008" cy="512064"/>
          </a:xfrm>
          <a:prstGeom prst="rect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354B"/>
                </a:solidFill>
                <a:latin typeface="Aptos Display"/>
              </a:defRPr>
            </a:pPr>
            <a:r>
              <a:t>EDA — Relationships &amp; Participation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A72"/>
                </a:solidFill>
                <a:latin typeface="Aptos"/>
              </a:defRPr>
            </a:pPr>
            <a:r>
              <a:t>Two useful signals from the exploratory analysis.</a:t>
            </a:r>
          </a:p>
        </p:txBody>
      </p:sp>
      <p:pic>
        <p:nvPicPr>
          <p:cNvPr id="6" name="Picture 5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623560" cy="5329607"/>
          </a:xfrm>
          <a:prstGeom prst="rect">
            <a:avLst/>
          </a:prstGeom>
        </p:spPr>
      </p:pic>
      <p:pic>
        <p:nvPicPr>
          <p:cNvPr id="7" name="Picture 6" descr="folio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5303520" cy="30057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5321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2A2F35"/>
                </a:solidFill>
                <a:latin typeface="Aptos"/>
              </a:defRPr>
            </a:pPr>
            <a:r>
              <a:t>• Most off-diagonal correlations in the displayed sample are close to zero.</a:t>
            </a:r>
          </a:p>
          <a:p>
            <a:pPr>
              <a:spcAft>
                <a:spcPts val="300"/>
              </a:spcAft>
              <a:defRPr sz="1150">
                <a:solidFill>
                  <a:srgbClr val="2A2F35"/>
                </a:solidFill>
                <a:latin typeface="Aptos"/>
              </a:defRPr>
            </a:pPr>
            <a:r>
              <a:t>• The strongest negative value shown is about -0.094.</a:t>
            </a:r>
          </a:p>
          <a:p>
            <a:pPr>
              <a:spcAft>
                <a:spcPts val="300"/>
              </a:spcAft>
              <a:defRPr sz="1150">
                <a:solidFill>
                  <a:srgbClr val="2A2F35"/>
                </a:solidFill>
                <a:latin typeface="Aptos"/>
              </a:defRPr>
            </a:pPr>
            <a:r>
              <a:t>• Industry folio count rises from 13.26 Cr to 26.12 Cr.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26A72"/>
                </a:solidFill>
                <a:latin typeface="Aptos"/>
              </a:defRPr>
            </a:pPr>
            <a:r>
              <a:t>Mutual Fund Analytics Capstone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64008" cy="512064"/>
          </a:xfrm>
          <a:prstGeom prst="rect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354B"/>
                </a:solidFill>
                <a:latin typeface="Aptos Display"/>
              </a:defRPr>
            </a:pPr>
            <a:r>
              <a:t>Performance — Risk-Adjusted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A72"/>
                </a:solidFill>
                <a:latin typeface="Aptos"/>
              </a:defRPr>
            </a:pPr>
            <a:r>
              <a:t>The recommender used Sharpe ratio as one of the screening measures.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74720" cy="182880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50" b="1">
                <a:solidFill>
                  <a:srgbClr val="626A72"/>
                </a:solidFill>
                <a:latin typeface="Aptos"/>
              </a:defRPr>
            </a:pPr>
            <a:r>
              <a:t>Rank 1</a:t>
            </a:r>
          </a:p>
          <a:p>
            <a:pPr>
              <a:defRPr sz="2300" b="1">
                <a:solidFill>
                  <a:srgbClr val="20354B"/>
                </a:solidFill>
                <a:latin typeface="Aptos Display"/>
              </a:defRPr>
            </a:pPr>
            <a:r>
              <a:t>1.235</a:t>
            </a:r>
          </a:p>
          <a:p>
            <a:pPr>
              <a:defRPr sz="1000">
                <a:solidFill>
                  <a:srgbClr val="2A2F35"/>
                </a:solidFill>
                <a:latin typeface="Aptos"/>
              </a:defRPr>
            </a:pPr>
            <a:r>
              <a:t>Mirae Asset Tax Saver Fund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474720" cy="182880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50" b="1">
                <a:solidFill>
                  <a:srgbClr val="626A72"/>
                </a:solidFill>
                <a:latin typeface="Aptos"/>
              </a:defRPr>
            </a:pPr>
            <a:r>
              <a:t>Rank 2</a:t>
            </a:r>
          </a:p>
          <a:p>
            <a:pPr>
              <a:defRPr sz="2300" b="1">
                <a:solidFill>
                  <a:srgbClr val="20354B"/>
                </a:solidFill>
                <a:latin typeface="Aptos Display"/>
              </a:defRPr>
            </a:pPr>
            <a:r>
              <a:t>1.180</a:t>
            </a:r>
          </a:p>
          <a:p>
            <a:pPr>
              <a:defRPr sz="1000">
                <a:solidFill>
                  <a:srgbClr val="2A2F35"/>
                </a:solidFill>
                <a:latin typeface="Aptos"/>
              </a:defRPr>
            </a:pPr>
            <a:r>
              <a:t>ICICI Pru Midcap Fund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508760"/>
            <a:ext cx="3474720" cy="182880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50" b="1">
                <a:solidFill>
                  <a:srgbClr val="626A72"/>
                </a:solidFill>
                <a:latin typeface="Aptos"/>
              </a:defRPr>
            </a:pPr>
            <a:r>
              <a:t>Rank 3</a:t>
            </a:r>
          </a:p>
          <a:p>
            <a:pPr>
              <a:defRPr sz="2300" b="1">
                <a:solidFill>
                  <a:srgbClr val="20354B"/>
                </a:solidFill>
                <a:latin typeface="Aptos Display"/>
              </a:defRPr>
            </a:pPr>
            <a:r>
              <a:t>1.132</a:t>
            </a:r>
          </a:p>
          <a:p>
            <a:pPr>
              <a:defRPr sz="1000">
                <a:solidFill>
                  <a:srgbClr val="2A2F35"/>
                </a:solidFill>
                <a:latin typeface="Aptos"/>
              </a:defRPr>
            </a:pPr>
            <a:r>
              <a:t>DSP Midcap Fund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A2F35"/>
                </a:solidFill>
                <a:latin typeface="Aptos"/>
              </a:defRPr>
            </a:pPr>
            <a:r>
              <a:t>• Top three from the project output: Mirae Asset Tax Saver, ICICI Pru Midcap and DSP Midcap.</a:t>
            </a:r>
          </a:p>
          <a:p>
            <a:pPr>
              <a:spcAft>
                <a:spcPts val="700"/>
              </a:spcAft>
              <a:defRPr sz="1500">
                <a:solidFill>
                  <a:srgbClr val="2A2F35"/>
                </a:solidFill>
                <a:latin typeface="Aptos"/>
              </a:defRPr>
            </a:pPr>
            <a:r>
              <a:t>• This is an analytical ranking, not a personal investment recommendation.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26A72"/>
                </a:solidFill>
                <a:latin typeface="Aptos"/>
              </a:defRPr>
            </a:pPr>
            <a:r>
              <a:t>Mutual Fund Analytics Capstone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64008" cy="512064"/>
          </a:xfrm>
          <a:prstGeom prst="rect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354B"/>
                </a:solidFill>
                <a:latin typeface="Aptos Display"/>
              </a:defRPr>
            </a:pPr>
            <a:r>
              <a:t>Performance — Alpha &amp;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A72"/>
                </a:solidFill>
                <a:latin typeface="Aptos"/>
              </a:defRPr>
            </a:pPr>
            <a:r>
              <a:t>Values below come directly from alpha_beta.csv.</a:t>
            </a:r>
          </a:p>
        </p:txBody>
      </p:sp>
      <p:pic>
        <p:nvPicPr>
          <p:cNvPr id="6" name="Picture 5" descr="alpha_top5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5897880" cy="29651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12280" y="1371600"/>
            <a:ext cx="2103120" cy="132588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50" b="1">
                <a:solidFill>
                  <a:srgbClr val="626A72"/>
                </a:solidFill>
                <a:latin typeface="Aptos"/>
              </a:defRPr>
            </a:pPr>
            <a:r>
              <a:t>Schemes</a:t>
            </a:r>
          </a:p>
          <a:p>
            <a:pPr>
              <a:defRPr sz="2300" b="1">
                <a:solidFill>
                  <a:srgbClr val="20354B"/>
                </a:solidFill>
                <a:latin typeface="Aptos Display"/>
              </a:defRPr>
            </a:pPr>
            <a:r>
              <a:t>40</a:t>
            </a:r>
          </a:p>
          <a:p>
            <a:pPr>
              <a:defRPr sz="1000">
                <a:solidFill>
                  <a:srgbClr val="2A2F35"/>
                </a:solidFill>
                <a:latin typeface="Aptos"/>
              </a:defRPr>
            </a:pPr>
            <a:r>
              <a:t>Rows in alpha_beta.csv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371600"/>
            <a:ext cx="2103120" cy="132588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50" b="1">
                <a:solidFill>
                  <a:srgbClr val="626A72"/>
                </a:solidFill>
                <a:latin typeface="Aptos"/>
              </a:defRPr>
            </a:pPr>
            <a:r>
              <a:t>Mean Alpha</a:t>
            </a:r>
          </a:p>
          <a:p>
            <a:pPr>
              <a:defRPr sz="2300" b="1">
                <a:solidFill>
                  <a:srgbClr val="20354B"/>
                </a:solidFill>
                <a:latin typeface="Aptos Display"/>
              </a:defRPr>
            </a:pPr>
            <a:r>
              <a:t>0.159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2926080"/>
            <a:ext cx="2103120" cy="132588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50" b="1">
                <a:solidFill>
                  <a:srgbClr val="626A72"/>
                </a:solidFill>
                <a:latin typeface="Aptos"/>
              </a:defRPr>
            </a:pPr>
            <a:r>
              <a:t>Min Alpha</a:t>
            </a:r>
          </a:p>
          <a:p>
            <a:pPr>
              <a:defRPr sz="2300" b="1">
                <a:solidFill>
                  <a:srgbClr val="20354B"/>
                </a:solidFill>
                <a:latin typeface="Aptos Display"/>
              </a:defRPr>
            </a:pPr>
            <a:r>
              <a:t>0.029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926080"/>
            <a:ext cx="2103120" cy="1325880"/>
          </a:xfrm>
          <a:prstGeom prst="roundRect">
            <a:avLst/>
          </a:prstGeom>
          <a:solidFill>
            <a:srgbClr val="F6F7F9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50" b="1">
                <a:solidFill>
                  <a:srgbClr val="626A72"/>
                </a:solidFill>
                <a:latin typeface="Aptos"/>
              </a:defRPr>
            </a:pPr>
            <a:r>
              <a:t>Max Alpha</a:t>
            </a:r>
          </a:p>
          <a:p>
            <a:pPr>
              <a:defRPr sz="2300" b="1">
                <a:solidFill>
                  <a:srgbClr val="20354B"/>
                </a:solidFill>
                <a:latin typeface="Aptos Display"/>
              </a:defRPr>
            </a:pPr>
            <a:r>
              <a:t>0.303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572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A2F35"/>
                </a:solidFill>
                <a:latin typeface="Aptos"/>
              </a:defRPr>
            </a:pPr>
            <a:r>
              <a:t>• Highest Alpha in the file: SBI Small Cap Fund - Regular Plan - Growth (0.303).</a:t>
            </a:r>
          </a:p>
          <a:p>
            <a:pPr>
              <a:spcAft>
                <a:spcPts val="400"/>
              </a:spcAft>
              <a:defRPr sz="1150">
                <a:solidFill>
                  <a:srgbClr val="2A2F35"/>
                </a:solidFill>
                <a:latin typeface="Aptos"/>
              </a:defRPr>
            </a:pPr>
            <a:r>
              <a:t>• Alpha and Beta should be read together with the chosen benchmark and analysis period.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26A72"/>
                </a:solidFill>
                <a:latin typeface="Aptos"/>
              </a:defRPr>
            </a:pPr>
            <a:r>
              <a:t>Mutual Fund Analytics Capstone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64008" cy="512064"/>
          </a:xfrm>
          <a:prstGeom prst="rect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354B"/>
                </a:solidFill>
                <a:latin typeface="Aptos Display"/>
              </a:defRPr>
            </a:pPr>
            <a:r>
              <a:t>Dashboard — Overview &amp; Fund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A72"/>
                </a:solidFill>
                <a:latin typeface="Aptos"/>
              </a:defRPr>
            </a:pPr>
            <a:r>
              <a:t>Actual Power BI screens from the project.</a:t>
            </a:r>
          </a:p>
        </p:txBody>
      </p:sp>
      <p:pic>
        <p:nvPicPr>
          <p:cNvPr id="6" name="Picture 5" descr="Screenshot 2026-08-10 2237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5532120" cy="4709160"/>
          </a:xfrm>
          <a:prstGeom prst="rect">
            <a:avLst/>
          </a:prstGeom>
        </p:spPr>
      </p:pic>
      <p:pic>
        <p:nvPicPr>
          <p:cNvPr id="7" name="Picture 6" descr="Screenshot 2026-08-10 2238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298448"/>
            <a:ext cx="5532120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6247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0354B"/>
                </a:solidFill>
              </a:defRPr>
            </a:pPr>
            <a:r>
              <a:t>Industry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606247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0354B"/>
                </a:solidFill>
              </a:defRPr>
            </a:pPr>
            <a:r>
              <a:t>Fund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26A72"/>
                </a:solidFill>
                <a:latin typeface="Aptos"/>
              </a:defRPr>
            </a:pPr>
            <a:r>
              <a:t>Mutual Fund Analytics Capstone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64008" cy="512064"/>
          </a:xfrm>
          <a:prstGeom prst="rect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354B"/>
                </a:solidFill>
                <a:latin typeface="Aptos Display"/>
              </a:defRPr>
            </a:pPr>
            <a:r>
              <a:t>Dashboard — Investor &amp; SIP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A72"/>
                </a:solidFill>
                <a:latin typeface="Aptos"/>
              </a:defRPr>
            </a:pPr>
            <a:r>
              <a:t>The remaining two dashboard pages.</a:t>
            </a:r>
          </a:p>
        </p:txBody>
      </p:sp>
      <p:pic>
        <p:nvPicPr>
          <p:cNvPr id="6" name="Picture 5" descr="Screenshot 2026-08-10 2238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5532120" cy="4709160"/>
          </a:xfrm>
          <a:prstGeom prst="rect">
            <a:avLst/>
          </a:prstGeom>
        </p:spPr>
      </p:pic>
      <p:pic>
        <p:nvPicPr>
          <p:cNvPr id="7" name="Picture 6" descr="Screenshot 2026-08-10 2238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298448"/>
            <a:ext cx="5532120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6247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0354B"/>
                </a:solidFill>
              </a:defRPr>
            </a:pPr>
            <a:r>
              <a:t>Investor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606247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0354B"/>
                </a:solidFill>
              </a:defRPr>
            </a:pPr>
            <a:r>
              <a:t>SIP and Market Trends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26A72"/>
                </a:solidFill>
                <a:latin typeface="Aptos"/>
              </a:defRPr>
            </a:pPr>
            <a:r>
              <a:t>Mutual Fund Analytics Capstone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64008" cy="512064"/>
          </a:xfrm>
          <a:prstGeom prst="rect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354B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A72"/>
                </a:solidFill>
                <a:latin typeface="Aptos"/>
              </a:defRPr>
            </a:pPr>
            <a:r>
              <a:t>The main points we would take away from the project.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25880"/>
            <a:ext cx="384048" cy="384048"/>
          </a:xfrm>
          <a:prstGeom prst="ellipse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07592"/>
            <a:ext cx="9966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20354B"/>
                </a:solidFill>
              </a:defRPr>
            </a:pPr>
            <a:r>
              <a:t>SIP growth</a:t>
            </a:r>
          </a:p>
          <a:p>
            <a:pPr>
              <a:defRPr sz="1120">
                <a:solidFill>
                  <a:srgbClr val="2A2F35"/>
                </a:solidFill>
              </a:defRPr>
            </a:pPr>
            <a:r>
              <a:t>Monthly SIP inflow reaches ₹31,002 Cr at the end of the displayed series.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67712"/>
            <a:ext cx="384048" cy="384048"/>
          </a:xfrm>
          <a:prstGeom prst="ellipse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49424"/>
            <a:ext cx="9966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20354B"/>
                </a:solidFill>
              </a:defRPr>
            </a:pPr>
            <a:r>
              <a:t>Investor continuity</a:t>
            </a:r>
          </a:p>
          <a:p>
            <a:pPr>
              <a:defRPr sz="1120">
                <a:solidFill>
                  <a:srgbClr val="2A2F35"/>
                </a:solidFill>
              </a:defRPr>
            </a:pPr>
            <a:r>
              <a:t>1,362 investors meet the 6+ SIP transaction threshold.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09544"/>
            <a:ext cx="384048" cy="384048"/>
          </a:xfrm>
          <a:prstGeom prst="ellipse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91256"/>
            <a:ext cx="9966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20354B"/>
                </a:solidFill>
              </a:defRPr>
            </a:pPr>
            <a:r>
              <a:t>Fund screening</a:t>
            </a:r>
          </a:p>
          <a:p>
            <a:pPr>
              <a:defRPr sz="1120">
                <a:solidFill>
                  <a:srgbClr val="2A2F35"/>
                </a:solidFill>
              </a:defRPr>
            </a:pPr>
            <a:r>
              <a:t>The top three Sharpe recommendations are Mirae Asset Tax Saver, ICICI Pru Midcap and DSP Midcap.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151376"/>
            <a:ext cx="384048" cy="384048"/>
          </a:xfrm>
          <a:prstGeom prst="ellipse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133088"/>
            <a:ext cx="9966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20354B"/>
                </a:solidFill>
              </a:defRPr>
            </a:pPr>
            <a:r>
              <a:t>Portfolio relationships</a:t>
            </a:r>
          </a:p>
          <a:p>
            <a:pPr>
              <a:defRPr sz="1120">
                <a:solidFill>
                  <a:srgbClr val="2A2F35"/>
                </a:solidFill>
              </a:defRPr>
            </a:pPr>
            <a:r>
              <a:t>The displayed fund-return correlations are mostly weak.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093208"/>
            <a:ext cx="384048" cy="384048"/>
          </a:xfrm>
          <a:prstGeom prst="ellipse">
            <a:avLst/>
          </a:prstGeom>
          <a:solidFill>
            <a:srgbClr val="2F6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74920"/>
            <a:ext cx="9966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20354B"/>
                </a:solidFill>
              </a:defRPr>
            </a:pPr>
            <a:r>
              <a:t>Advanced analysis</a:t>
            </a:r>
          </a:p>
          <a:p>
            <a:pPr>
              <a:defRPr sz="1120">
                <a:solidFill>
                  <a:srgbClr val="2A2F35"/>
                </a:solidFill>
              </a:defRPr>
            </a:pPr>
            <a:r>
              <a:t>Cohort analysis, SIP continuity, sector HHI and VaR/CVaR were added beyond basic EDA.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26A72"/>
                </a:solidFill>
                <a:latin typeface="Aptos"/>
              </a:defRPr>
            </a:pPr>
            <a:r>
              <a:t>Mutual Fund Analytics Capstone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08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0"/>
                </a:solidFill>
              </a:defRPr>
            </a:pPr>
            <a:r>
              <a:t>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2DC"/>
                </a:solidFill>
              </a:defRPr>
            </a:pPr>
            <a:r>
              <a:t>Data → cleaning → analysis →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26A72"/>
                </a:solidFill>
                <a:latin typeface="Aptos"/>
              </a:defRPr>
            </a:pPr>
            <a:r>
              <a:t>Mutual Fund Analytics Capstone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